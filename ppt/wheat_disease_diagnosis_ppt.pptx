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366092"/>
                </a:solidFill>
              </a:rPr>
              <a:t>基于多模态融合的小麦病害诊断系统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48235"/>
                </a:solidFill>
              </a:rPr>
              <a:t>毕业设计答辩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4572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030A0"/>
                </a:solidFill>
              </a:rPr>
              <a:t>IWDDA Team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66092"/>
                </a:solidFill>
              </a:rPr>
              <a:t>项目简介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IWDDA（Intelligent Wheat Disease Diagnosis Agent）是一个基于多模态特征融合的小麦病害诊断智能体，旨在解决传统农业诊断中依赖专家经验、难以标准化的问题。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66092"/>
                </a:solidFill>
              </a:rPr>
              <a:t>核心优势：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多模态融合：结合图像视觉特征、文本语义描述和结构化知识图谱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智能推理：基于知识图谱的 GraphRAG 机制，提供科学的防治建议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实时交互：基于 SSE 流式推送的实时诊断进度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高效检测：基于 YOLOv8s 的 FP16 推理，支持 17 类小麦病害识别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安全可靠：JWT 双令牌认证、XSS 防护、RBAC 权限控制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66092"/>
                </a:solidFill>
              </a:rPr>
              <a:t>系统架构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IWDDA System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├── 交互层 (Interaction Layer)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├── Vue3 Web 前端 (Element Plus + ECharts)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└── FastAPI REST API + SSE 流式推送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├── 感知层 (Perception Layer)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├── VisionAgent (YOLOv8s FP16)   - 图像检测与定位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└── LanguageAgent (Qwen3-VL)     - 多模态语义理解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├── 认知层 (Cognition Layer)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├── KnowledgeAgent (Neo4j+TransE) - 知识图谱推理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└── FusionAgent (KAD-Former)      - 多模态融合决策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└── 基础设施层 (Infrastructure Layer)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    ├── JWT双令牌认证 + RBAC权限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    ├── SSE流式推送 + 心跳保活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    ├── 并发限流 + GPU监控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    └── Redis缓存 + Token黑名单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66092"/>
                </a:solidFill>
              </a:rPr>
              <a:t>核心功能模块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48235"/>
                </a:solidFill>
              </a:rPr>
              <a:t>1. 视觉感知模块 (Vision Agent)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基于 YOLOv8s 的高精度目标检测（FP16 推理）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支持 17类 小麦病害和虫害识别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自动定位病灶区域并绘制可视化结果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LRU 推理缓存（64 条）+ SHA-256 图像哈希匹配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48235"/>
                </a:solidFill>
              </a:rPr>
              <a:t>2. 多模态理解模块 (Language Agent)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48463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基于 Qwen3-VL-2B-Instruct 的图文联合理解（INT4 量化）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支持 Thinking 推理链模式，提供详细诊断依据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多语言文本嵌入与检索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66092"/>
                </a:solidFill>
              </a:rPr>
              <a:t>核心功能模块（续）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48235"/>
                </a:solidFill>
              </a:rPr>
              <a:t>3. 知识图谱模块 (Knowledge Agent)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基于 Neo4j 的农业知识图谱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GraphRAG 知识检索增强生成机制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TransE 知识嵌入 + 多跳推理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包含病害成因、预防措施、治疗药剂等完整知识体系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48235"/>
                </a:solidFill>
              </a:rPr>
              <a:t>4. 多模态融合模块 (Fusion Agent)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484632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KAD-Former (Knowledge-Aware Diffusion Fusion) 融合策略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决策级融合：视觉主导 + 文本辅助 + 知识仲裁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提供详细的推理过程和置信度评估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FusionAnnotator 知识增强标注 + ROI 可视化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6400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48235"/>
                </a:solidFill>
              </a:rPr>
              <a:t>5. Web 交互系统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713232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Vue 3 + TypeScript + Element Plus 前端界面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FastAPI 后端服务，四层分离架构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SSE 流式响应：实时诊断进度推送，6 种事件类型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JWT 双令牌认证：Access 30min + Refresh 7days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RBAC 权限控制：farmer / technician / admin 三级角色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66092"/>
                </a:solidFill>
              </a:rPr>
              <a:t>技术栈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1. 视觉检测: YOLOv8s (Ultralytics)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用途: 目标检测与定位（FP16）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2. 多模态理解: Qwen3-VL-2B-Instruct (INT4)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2560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用途: 图文联合理解与推理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3. 知识图谱: Neo4j + TransE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3291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用途: 结构化知识存储与推理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4. 知识增强: GraphRAG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4023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用途: 知识检索增强生成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754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5. 融合引擎: KAD-Former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4754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用途: 多模态特征融合决策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486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6. 后端框架: FastAPI + SQLAlchemy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5486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用途: REST API + 异步ORM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6217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7. 前端框架: Vue 3 + TypeScript + Element Plus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6217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用途: Web 交互界面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6949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8. 数据可视化: ECharts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6949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用途: 病害分布图表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7680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9. 数据库: MySQL 8.0 + Redis 7.2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7680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用途: 数据存储 + 缓存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8412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10. 认证安全: JWT + bcrypt + SHA-256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8412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用途: 双令牌认证 + 密码安全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66092"/>
                </a:solidFill>
              </a:rPr>
              <a:t>支持的病害类别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" cy="548640"/>
          </a:xfrm>
          <a:prstGeom prst="rect">
            <a:avLst/>
          </a:prstGeom>
          <a:solidFill>
            <a:srgbClr val="E2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ID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645920" y="1645920"/>
            <a:ext cx="1828800" cy="548640"/>
          </a:xfrm>
          <a:prstGeom prst="rect">
            <a:avLst/>
          </a:prstGeom>
          <a:solidFill>
            <a:srgbClr val="E2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中文名称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74720" y="1645920"/>
            <a:ext cx="2286000" cy="548640"/>
          </a:xfrm>
          <a:prstGeom prst="rect">
            <a:avLst/>
          </a:prstGeom>
          <a:solidFill>
            <a:srgbClr val="E2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英文名称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60720" y="1645920"/>
            <a:ext cx="1554480" cy="548640"/>
          </a:xfrm>
          <a:prstGeom prst="rect">
            <a:avLst/>
          </a:prstGeom>
          <a:solidFill>
            <a:srgbClr val="E2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类型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蚜虫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Aphids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60720" y="2194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昆虫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651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螨虫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Mites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60720" y="2651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昆虫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108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茎蝇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Stem Fly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60720" y="3108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昆虫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566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锈病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7472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Rust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0" y="3566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真菌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023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4592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茎锈病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7472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Stem Rust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60720" y="4023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真菌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480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45920" y="4480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叶锈病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74720" y="4480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Leaf Rust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6072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真菌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4937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645920" y="4937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条锈病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0" y="4937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Stripe Rust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760720" y="4937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真菌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4400" y="5394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645920" y="5394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黑粉病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474720" y="5394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Smuts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760720" y="5394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真菌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14400" y="5852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8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645920" y="5852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根腐病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474720" y="5852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Common Root Rot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760720" y="5852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真菌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14400" y="6309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9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645920" y="6309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叶斑病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474720" y="6309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Spot Blotch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760720" y="6309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真菌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14400" y="6766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10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645920" y="6766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小麦爆发病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474720" y="6766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Wheat Blast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760720" y="6766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真菌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14400" y="7223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11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645920" y="7223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赤霉病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3474720" y="7223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Fusarium Head Blight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760720" y="7223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真菌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914400" y="7680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12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645920" y="7680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壳针孢叶斑病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3474720" y="7680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Septoria Leaf Blotch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760720" y="7680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真菌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914400" y="8138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13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645920" y="8138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斑点叶斑病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3474720" y="8138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Speckled Leaf Blotch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5760720" y="8138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真菌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914400" y="8595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14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1645920" y="8595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褐斑病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3474720" y="8595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Brown Spot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5760720" y="8595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真菌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914400" y="9052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15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1645920" y="9052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白粉病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3474720" y="9052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Powdery Mildew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5760720" y="9052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真菌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914400" y="9509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16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1645920" y="9509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健康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3474720" y="9509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Healthy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5760720" y="9509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正常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66092"/>
                </a:solidFill>
              </a:rPr>
              <a:t>性能指标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2743200" cy="731520"/>
          </a:xfrm>
          <a:prstGeom prst="rect">
            <a:avLst/>
          </a:prstGeom>
          <a:solidFill>
            <a:srgbClr val="E2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指标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0" y="1828800"/>
            <a:ext cx="1828800" cy="731520"/>
          </a:xfrm>
          <a:prstGeom prst="rect">
            <a:avLst/>
          </a:prstGeom>
          <a:solidFill>
            <a:srgbClr val="E2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目标值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0" y="1828800"/>
            <a:ext cx="1828800" cy="731520"/>
          </a:xfrm>
          <a:prstGeom prst="rect">
            <a:avLst/>
          </a:prstGeom>
          <a:solidFill>
            <a:srgbClr val="E2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实测值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YOLO 推理延迟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2560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≤150ms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25603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225ms (CPU)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SSE 首事件延迟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3291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≤500ms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3291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0.01ms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0233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完整诊断延迟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4023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≤40s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4023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185.8ms (YOLO-only)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Qwen 显存占用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0" y="4754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≤4GB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0" y="4754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~2.6GB (INT4)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54864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知识覆盖率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0" y="5486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≥95%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0" y="5486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100%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66092"/>
                </a:solidFill>
              </a:rPr>
              <a:t>安全设计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1. JWT 双令牌: Access 30min + Refresh 7days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2. Token 黑名单: Redis Set + TTL 自动过期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3. 密码安全: bcrypt 哈希存储 + 72 字节截断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4. 密码重置: SHA-256 令牌哈希 + 1 小时有效期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5. XSS 防护: html.escape 转义 + CSP 安全头 + 用户名正则验证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6. 开放重定向防护: 登录 redirect 参数验证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120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7. 速率限制: SlowAPI 频率限流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5669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8. 并发限流: DiagnosisRateLimiter（≤3 并发）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6217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9. GPU 保护: 显存≥90% 返回 503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6766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10. CORS: 可配置白名单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7315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11. 输入验证: Pydantic V2 Schema 校验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7863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12. 账户锁定: 连续 5 次失败锁定 30 分钟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8412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13. Cookie 安全: httpOnly + secure + samesite=lax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66092"/>
                </a:solidFill>
              </a:rPr>
              <a:t>创新点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多模态融合架构：首次将视觉检测、多模态理解和知识图谱有机结合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KAD-Former 融合策略：创新的知识感知扩散融合机制，提高诊断准确性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GraphRAG 知识增强：利用知识图谱进行检索增强生成，提供科学的防治建议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实时流式响应：基于 SSE 的实时诊断进度推送，提升用户体验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INT4 量化优化：Qwen3-VL 模型的 INT4 量化，降低显存占用至 2.6GB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完整安全体系：JWT 双令牌认证、XSS 防护、RBAC 权限控制等多重安全措施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可扩展性设计：模块化架构，支持模型升级和功能扩展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边缘部署支持：优化的模型和推理引擎，支持在边缘设备上部署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66092"/>
                </a:solidFill>
              </a:rPr>
              <a:t>项目结构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WheatAgent/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├── src/                           # 核心源码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├── web/                       # Web 前后端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│   ├── frontend/              # Vue3 前端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│   │   ├── src/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│   │   │   ├── api/           # API 接口层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│   │   │   ├── components/    # 组件（诊断/知识/仪表盘）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│   │   │   ├── views/         # 页面视图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│   │   │   ├── router/        # Vue Router 路由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│   │   │   ├── stores/        # Pinia 状态管理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│   │   │   ├── utils/         # 工具函数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│   │   │   └── types/         # TypeScript 类型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│   └── backend/               # FastAPI 后端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│       └── app/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│           ├── api/v1/        # API 路由层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│           ├── services/      # 业务服务层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│           ├── core/          # 核心组件层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│           ├── models/        # 数据模型层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│           ├── schemas/       # Pydantic 数据校验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│           └── utils/         # 工具函数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├── vision/                    # 视觉引擎（YOLOv8增强）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├── perception/                # 感知模块（YOLO/Qwen-VL）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├── fusion/                    # 融合引擎（KAD-Former/GraphRAG）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├── graph/                     # 图引擎（GNN/知识图谱）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├── text/                      # 文本引擎（遗留，已被Qwen3-VL替代）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│   └── cognition/                 # 认知引擎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├── configs/                       # 训练与模型配置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├── scripts/                       # 工具脚本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├── deploy/                        # 部署配置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├── docs/                          # 项目文档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├── data/                          # 数据目录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└── runs/                          # 训练输出目录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66092"/>
                </a:solidFill>
              </a:rPr>
              <a:t>总结与展望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66092"/>
                </a:solidFill>
              </a:rPr>
              <a:t>项目总结：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成功实现了一个基于多模态融合的小麦病害诊断系统，整合了计算机视觉、大语言模型和知识图谱技术，实现了从"感知"到"认知"再到"行动"的完整闭环。系统支持17类小麦病害识别，提供实时诊断和科学的防治建议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66092"/>
                </a:solidFill>
              </a:rPr>
              <a:t>未来展望：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576072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扩展支持更多作物类型和病害种类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优化模型性能，进一步降低推理延迟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增加移动端应用，支持离线诊断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引入联邦学习，保护用户数据隐私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与农业物联网设备集成，实现智能监测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开发专家系统，提供更精准的农业决策支持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66092"/>
                </a:solidFill>
              </a:rPr>
              <a:t>致谢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36576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感谢导师的悉心指导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感谢团队成员的协作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感谢所有支持本项目的人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48235"/>
                </a:solidFill>
              </a:rPr>
              <a:t>谢谢聆听！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2026-04-23T04:49:03Z</dcterms:created>
  <dcterms:modified xsi:type="dcterms:W3CDTF">2026-04-23T04:49:03Z</dcterms:modified>
</cp:coreProperties>
</file>